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73" r:id="rId12"/>
    <p:sldId id="265" r:id="rId13"/>
    <p:sldId id="266" r:id="rId14"/>
    <p:sldId id="272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Prostorový index pro vyhledávání bodů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Semestrální práce | MH_semestralka_p__index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498079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Porovnání vyhledávání bez indexu, vlastního dlaždicového indexu a knihovního R-tree / STRtree.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Testy nad body v Olomouckém kraji i nad celou Českou republikou.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2000">
                <a:solidFill>
                  <a:srgbClr val="202830"/>
                </a:solidFill>
              </a:defRPr>
            </a:pPr>
            <a:r>
              <a:t>Důraz na praktický výkon u bbox, radius a polygon query.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920240"/>
            <a:ext cx="3108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Hlavní otázka:</a:t>
            </a:r>
            <a:br/>
            <a:r>
              <a:t>Kdy prostorový index skutečně zrychlí dotazy?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Cíl práce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5836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Vytvořit a otestovat jednoduchý prostorový index nad bodovými daty.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Porovnat ho s lineárním průchodem a s knihovním indexem GeoPandas/Shapely.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Ověřit správnost výsledků: všechny metody musí vracet stejné počty bodů.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Vyhodnotit chování při různých velikostech datasetu a dotazu.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Výstupem není jen kód, ale měřitelný rozdíl v časech dotazů.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Použitá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rPr dirty="0"/>
              <a:t>Polygon </a:t>
            </a:r>
            <a:r>
              <a:rPr dirty="0" err="1"/>
              <a:t>Olomouckého</a:t>
            </a:r>
            <a:r>
              <a:rPr dirty="0"/>
              <a:t> </a:t>
            </a:r>
            <a:r>
              <a:rPr dirty="0" err="1"/>
              <a:t>kraje</a:t>
            </a:r>
            <a:r>
              <a:rPr dirty="0"/>
              <a:t> a polygon </a:t>
            </a:r>
            <a:r>
              <a:rPr dirty="0" err="1"/>
              <a:t>celé</a:t>
            </a:r>
            <a:r>
              <a:rPr dirty="0"/>
              <a:t> </a:t>
            </a:r>
            <a:r>
              <a:rPr dirty="0" err="1"/>
              <a:t>České</a:t>
            </a:r>
            <a:r>
              <a:rPr dirty="0"/>
              <a:t> </a:t>
            </a:r>
            <a:r>
              <a:rPr dirty="0" err="1"/>
              <a:t>republiky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rPr dirty="0" err="1"/>
              <a:t>Vrstva</a:t>
            </a:r>
            <a:r>
              <a:rPr dirty="0"/>
              <a:t> 14 </a:t>
            </a:r>
            <a:r>
              <a:rPr dirty="0" err="1"/>
              <a:t>krajů</a:t>
            </a:r>
            <a:r>
              <a:rPr dirty="0"/>
              <a:t> ČR pro polygon query.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rPr dirty="0" err="1"/>
              <a:t>Náhodné</a:t>
            </a:r>
            <a:r>
              <a:rPr dirty="0"/>
              <a:t> body </a:t>
            </a:r>
            <a:r>
              <a:rPr dirty="0" err="1"/>
              <a:t>generované</a:t>
            </a:r>
            <a:r>
              <a:rPr dirty="0"/>
              <a:t> </a:t>
            </a:r>
            <a:r>
              <a:rPr dirty="0" err="1"/>
              <a:t>uvnitř</a:t>
            </a:r>
            <a:r>
              <a:rPr dirty="0"/>
              <a:t> </a:t>
            </a:r>
            <a:r>
              <a:rPr dirty="0" err="1"/>
              <a:t>skutečných</a:t>
            </a:r>
            <a:r>
              <a:rPr dirty="0"/>
              <a:t> </a:t>
            </a:r>
            <a:r>
              <a:rPr dirty="0" err="1"/>
              <a:t>polygonů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rPr dirty="0" err="1"/>
              <a:t>Datasety</a:t>
            </a:r>
            <a:r>
              <a:rPr dirty="0"/>
              <a:t>: </a:t>
            </a:r>
            <a:r>
              <a:rPr dirty="0" err="1"/>
              <a:t>Olomoucký</a:t>
            </a:r>
            <a:r>
              <a:rPr dirty="0"/>
              <a:t> </a:t>
            </a:r>
            <a:r>
              <a:rPr dirty="0" err="1"/>
              <a:t>kraj</a:t>
            </a:r>
            <a:r>
              <a:rPr dirty="0"/>
              <a:t> 500, 1 000, 5 000 </a:t>
            </a:r>
            <a:r>
              <a:rPr dirty="0" err="1"/>
              <a:t>bodů</a:t>
            </a:r>
            <a:r>
              <a:rPr dirty="0"/>
              <a:t>; ČR 5 000, 10 000, 50 000 </a:t>
            </a:r>
            <a:r>
              <a:rPr dirty="0" err="1"/>
              <a:t>bodů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rPr dirty="0" err="1"/>
              <a:t>Zdroj</a:t>
            </a:r>
            <a:r>
              <a:rPr dirty="0"/>
              <a:t> </a:t>
            </a:r>
            <a:r>
              <a:rPr dirty="0" err="1"/>
              <a:t>hranic</a:t>
            </a:r>
            <a:r>
              <a:rPr dirty="0"/>
              <a:t>: </a:t>
            </a:r>
            <a:r>
              <a:rPr dirty="0" err="1"/>
              <a:t>veřejná</a:t>
            </a:r>
            <a:r>
              <a:rPr dirty="0"/>
              <a:t> ArcGIS REST </a:t>
            </a:r>
            <a:r>
              <a:rPr dirty="0" err="1"/>
              <a:t>služba</a:t>
            </a:r>
            <a:r>
              <a:rPr dirty="0"/>
              <a:t> </a:t>
            </a:r>
            <a:r>
              <a:rPr dirty="0" err="1"/>
              <a:t>České</a:t>
            </a:r>
            <a:r>
              <a:rPr dirty="0"/>
              <a:t> </a:t>
            </a:r>
            <a:r>
              <a:rPr dirty="0" err="1"/>
              <a:t>geologické</a:t>
            </a:r>
            <a:r>
              <a:rPr dirty="0"/>
              <a:t> </a:t>
            </a:r>
            <a:r>
              <a:rPr dirty="0" err="1"/>
              <a:t>služby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14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krajů v polygon 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85032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50 000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největší dataset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4264" y="4983480"/>
            <a:ext cx="27432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C64AA"/>
                </a:solidFill>
              </a:defRPr>
            </a:pPr>
            <a:r>
              <a:t>1 000</a:t>
            </a:r>
          </a:p>
          <a:p>
            <a:pPr algn="ctr">
              <a:defRPr sz="900">
                <a:solidFill>
                  <a:srgbClr val="5F6973"/>
                </a:solidFill>
              </a:defRPr>
            </a:pPr>
            <a:r>
              <a:t>dotazů v benchmarku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Proč EPSG:5514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67665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EPSG:4326 je vhodný výměnný formát pro GIS a webové mapy.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Pro výpočty je potřeba pracovat v metrech, ne ve stupních.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EPSG:5514 (S-JTSK / Křovák East North) umožňuje přímo používat velikost dlaždice, okna i radius v metrech.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Díky tomu je benchmark interpretovatelný: 5 000 znamená 5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1600200"/>
            <a:ext cx="35661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Pracovní CRS:</a:t>
            </a:r>
            <a:br/>
            <a:r>
              <a:t>EPSG:5514</a:t>
            </a:r>
            <a:br/>
            <a:r>
              <a:t/>
            </a:r>
            <a:br/>
            <a:r>
              <a:t>Dotazy:</a:t>
            </a:r>
            <a:br/>
            <a:r>
              <a:t>metry, bboxy, vzdálenosti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Vyhledávání bez indexu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dotaz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projdi všechny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test bbox / vzdálenost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výsledek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8620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Lineární přístup je jednoduchý a má nulový čas stavby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Každý dotaz ale kontroluje celý dataset.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S rostoucím počtem bodů roste čas téměř přímo úměrně.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Dlaždicový prostorový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6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rozděl prostor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ulož body do dlaždic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vyber dotčené dlaždice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ověř kandidáty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Vlastní implementace ukládá body podle dvojice celočíselných souřadnic dlaždice.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Dotaz se převede na rozsah dlaždic, které protínají bbox.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Přesný test se dělá jen nad kandidáty z těchto dlaždic.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 projektu: 1 000 m pro Olomoucký kraj, 5 000 m pro ČR.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R-tree / STRtree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057400"/>
            <a:ext cx="2240280" cy="1005840"/>
          </a:xfrm>
          <a:prstGeom prst="rect">
            <a:avLst/>
          </a:prstGeom>
          <a:solidFill>
            <a:srgbClr val="B44646"/>
          </a:solidFill>
          <a:ln>
            <a:solidFill>
              <a:srgbClr val="B4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geometrie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92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2057400"/>
            <a:ext cx="2240280" cy="1005840"/>
          </a:xfrm>
          <a:prstGeom prst="rect">
            <a:avLst/>
          </a:prstGeom>
          <a:solidFill>
            <a:srgbClr val="D27D2D"/>
          </a:solidFill>
          <a:ln>
            <a:solidFill>
              <a:srgbClr val="D27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424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57400"/>
            <a:ext cx="2240280" cy="1005840"/>
          </a:xfrm>
          <a:prstGeom prst="rect">
            <a:avLst/>
          </a:prstGeom>
          <a:solidFill>
            <a:srgbClr val="23875C"/>
          </a:solidFill>
          <a:ln>
            <a:solidFill>
              <a:srgbClr val="238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bbox kandidáti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5632" y="2359152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F6973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2057400"/>
            <a:ext cx="2240280" cy="1005840"/>
          </a:xfrm>
          <a:prstGeom prst="rect">
            <a:avLst/>
          </a:prstGeom>
          <a:solidFill>
            <a:srgbClr val="2C64AA"/>
          </a:solidFill>
          <a:ln>
            <a:solidFill>
              <a:srgbClr val="2C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přesné ověření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02412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GeoPandas/Shapely poskytuje knihovní prostorový index přes `gdf.sindex`.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Index organizuje bounding boxy geometrií tak, aby se rychle našli kandidáti.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Stejně jako u dlaždic není bbox kandidát automaticky finální výsledek.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700">
                <a:solidFill>
                  <a:srgbClr val="202830"/>
                </a:solidFill>
              </a:defRPr>
            </a:pPr>
            <a:r>
              <a:t>Výhoda: obecnější řešení pro různé geometrie; nevýhoda: režie Python/GeoPandas v malých dotazech.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Olomoucký kraj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je nejrychlejší ve všech velikostech dotazovacího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Lineární průchod je použitelný u malých dat, ale s počtem bodů rychle roste.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R-tree/STRtree má v tomto benchmarku vysokou režii a pro malé bodové dotazy nevychází výhodně.</a:t>
            </a:r>
          </a:p>
        </p:txBody>
      </p:sp>
      <p:pic>
        <p:nvPicPr>
          <p:cNvPr id="7" name="Picture 6" descr="benchmark_olomoucky_k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86" y="166232"/>
            <a:ext cx="11479227" cy="652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72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Česká republika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Bbox query, dataset 50 000 bodů, 1 000 dotazů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Na větším území a větším datasetu je rozdíl mezi lineárním průchodem a indexem výraznější.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Dlaždicový index drží nízké časy i pro větší dotazovací okna.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t>U největšího okna roste počet kandidátů, takže roste i čas indexovaného dotazu.</a:t>
            </a:r>
          </a:p>
        </p:txBody>
      </p:sp>
      <p:pic>
        <p:nvPicPr>
          <p:cNvPr id="7" name="Picture 6" descr="benchmark_ceska_republi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2" y="210312"/>
            <a:ext cx="11937202" cy="594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395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Co ukazuje škálování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040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Bez indexu je rozhodující hlavně počet bodů: každý dotaz musí projít vše.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U indexu je rozhodující počet kandidátů v dotčených dlaždicích nebo bboxu.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Čím menší část prostoru dotaz zasáhne, tím větší je přínos indexu.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t>Index má smysl hlavně při opakovaných dotazech nad stejným datasetem.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1874519"/>
            <a:ext cx="34747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Obecné pravidlo:</a:t>
            </a:r>
            <a:br/>
            <a:r>
              <a:t>index se vyplatí, když sníží počet přesně testovaných bodů.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 err="1"/>
              <a:t>Dotaz</a:t>
            </a:r>
            <a:r>
              <a:rPr dirty="0"/>
              <a:t>: </a:t>
            </a:r>
            <a:r>
              <a:rPr dirty="0" err="1"/>
              <a:t>najít</a:t>
            </a:r>
            <a:r>
              <a:rPr dirty="0"/>
              <a:t> </a:t>
            </a:r>
            <a:r>
              <a:rPr dirty="0" err="1"/>
              <a:t>všechny</a:t>
            </a:r>
            <a:r>
              <a:rPr dirty="0"/>
              <a:t> body do </a:t>
            </a:r>
            <a:r>
              <a:rPr dirty="0" err="1"/>
              <a:t>zadané</a:t>
            </a:r>
            <a:r>
              <a:rPr dirty="0"/>
              <a:t> </a:t>
            </a:r>
            <a:r>
              <a:rPr dirty="0" err="1"/>
              <a:t>vzdálenosti</a:t>
            </a:r>
            <a:r>
              <a:rPr dirty="0"/>
              <a:t> od </a:t>
            </a:r>
            <a:r>
              <a:rPr dirty="0" err="1"/>
              <a:t>středu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 err="1"/>
              <a:t>Nejdřív</a:t>
            </a:r>
            <a:r>
              <a:rPr dirty="0"/>
              <a:t> se </a:t>
            </a:r>
            <a:r>
              <a:rPr dirty="0" err="1"/>
              <a:t>použije</a:t>
            </a:r>
            <a:r>
              <a:rPr dirty="0"/>
              <a:t> </a:t>
            </a:r>
            <a:r>
              <a:rPr dirty="0" err="1"/>
              <a:t>bbox</a:t>
            </a:r>
            <a:r>
              <a:rPr dirty="0"/>
              <a:t> </a:t>
            </a:r>
            <a:r>
              <a:rPr dirty="0" err="1"/>
              <a:t>kružnice</a:t>
            </a:r>
            <a:r>
              <a:rPr dirty="0"/>
              <a:t> </a:t>
            </a:r>
            <a:r>
              <a:rPr dirty="0" err="1"/>
              <a:t>jako</a:t>
            </a:r>
            <a:r>
              <a:rPr dirty="0"/>
              <a:t> </a:t>
            </a:r>
            <a:r>
              <a:rPr dirty="0" err="1"/>
              <a:t>hrubý</a:t>
            </a:r>
            <a:r>
              <a:rPr dirty="0"/>
              <a:t> </a:t>
            </a:r>
            <a:r>
              <a:rPr dirty="0" err="1"/>
              <a:t>filtr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 err="1"/>
              <a:t>Potom</a:t>
            </a:r>
            <a:r>
              <a:rPr dirty="0"/>
              <a:t> </a:t>
            </a:r>
            <a:r>
              <a:rPr dirty="0" err="1"/>
              <a:t>musí</a:t>
            </a:r>
            <a:r>
              <a:rPr dirty="0"/>
              <a:t> </a:t>
            </a:r>
            <a:r>
              <a:rPr dirty="0" err="1"/>
              <a:t>následovat</a:t>
            </a:r>
            <a:r>
              <a:rPr dirty="0"/>
              <a:t> </a:t>
            </a:r>
            <a:r>
              <a:rPr dirty="0" err="1"/>
              <a:t>přesný</a:t>
            </a:r>
            <a:r>
              <a:rPr dirty="0"/>
              <a:t> test </a:t>
            </a:r>
            <a:r>
              <a:rPr dirty="0" err="1"/>
              <a:t>eukleidovské</a:t>
            </a:r>
            <a:r>
              <a:rPr dirty="0"/>
              <a:t> </a:t>
            </a:r>
            <a:r>
              <a:rPr dirty="0" err="1"/>
              <a:t>vzdálenosti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 err="1"/>
              <a:t>Poloměry</a:t>
            </a:r>
            <a:r>
              <a:rPr dirty="0"/>
              <a:t> v </a:t>
            </a:r>
            <a:r>
              <a:rPr dirty="0" err="1"/>
              <a:t>benchmarku</a:t>
            </a:r>
            <a:r>
              <a:rPr dirty="0"/>
              <a:t>: 5 km, 10 km a 25 km.</a:t>
            </a:r>
          </a:p>
        </p:txBody>
      </p:sp>
      <p:pic>
        <p:nvPicPr>
          <p:cNvPr id="6" name="Picture 5" descr="benchmark_radius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394960" cy="29955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" y="241416"/>
            <a:ext cx="11582289" cy="6216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34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Benchmark: polygon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973"/>
                </a:solidFill>
              </a:defRPr>
            </a:pPr>
            <a:r>
              <a:t>14 krajů ČR, souhrnný čas podle velikosti datasetu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/>
              <a:t>U polygon query je </a:t>
            </a:r>
            <a:r>
              <a:rPr dirty="0" err="1"/>
              <a:t>přesné</a:t>
            </a:r>
            <a:r>
              <a:rPr dirty="0"/>
              <a:t> </a:t>
            </a:r>
            <a:r>
              <a:rPr dirty="0" err="1"/>
              <a:t>ověření</a:t>
            </a:r>
            <a:r>
              <a:rPr dirty="0"/>
              <a:t> </a:t>
            </a:r>
            <a:r>
              <a:rPr dirty="0" err="1"/>
              <a:t>kandidátů</a:t>
            </a:r>
            <a:r>
              <a:rPr dirty="0"/>
              <a:t> </a:t>
            </a:r>
            <a:r>
              <a:rPr dirty="0" err="1"/>
              <a:t>dražší</a:t>
            </a:r>
            <a:r>
              <a:rPr dirty="0"/>
              <a:t> </a:t>
            </a:r>
            <a:r>
              <a:rPr dirty="0" err="1"/>
              <a:t>než</a:t>
            </a:r>
            <a:r>
              <a:rPr dirty="0"/>
              <a:t> u </a:t>
            </a:r>
            <a:r>
              <a:rPr dirty="0" err="1"/>
              <a:t>bbox</a:t>
            </a:r>
            <a:r>
              <a:rPr dirty="0"/>
              <a:t> </a:t>
            </a:r>
            <a:r>
              <a:rPr dirty="0" err="1"/>
              <a:t>dotazu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/>
              <a:t>Pro 50 000 </a:t>
            </a:r>
            <a:r>
              <a:rPr dirty="0" err="1"/>
              <a:t>bodů</a:t>
            </a:r>
            <a:r>
              <a:rPr dirty="0"/>
              <a:t> je </a:t>
            </a:r>
            <a:r>
              <a:rPr dirty="0" err="1"/>
              <a:t>nejrychlejší</a:t>
            </a:r>
            <a:r>
              <a:rPr dirty="0"/>
              <a:t> R-tree/</a:t>
            </a:r>
            <a:r>
              <a:rPr dirty="0" err="1"/>
              <a:t>STRtree</a:t>
            </a:r>
            <a:r>
              <a:rPr dirty="0"/>
              <a:t>, </a:t>
            </a:r>
            <a:r>
              <a:rPr dirty="0" err="1"/>
              <a:t>dlaždicový</a:t>
            </a:r>
            <a:r>
              <a:rPr dirty="0"/>
              <a:t> index je </a:t>
            </a:r>
            <a:r>
              <a:rPr dirty="0" err="1"/>
              <a:t>druhý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600">
                <a:solidFill>
                  <a:srgbClr val="202830"/>
                </a:solidFill>
              </a:defRPr>
            </a:pPr>
            <a:r>
              <a:rPr dirty="0"/>
              <a:t>U </a:t>
            </a:r>
            <a:r>
              <a:rPr dirty="0" err="1"/>
              <a:t>menších</a:t>
            </a:r>
            <a:r>
              <a:rPr dirty="0"/>
              <a:t> </a:t>
            </a:r>
            <a:r>
              <a:rPr dirty="0" err="1"/>
              <a:t>datasetů</a:t>
            </a:r>
            <a:r>
              <a:rPr dirty="0"/>
              <a:t> </a:t>
            </a:r>
            <a:r>
              <a:rPr dirty="0" err="1"/>
              <a:t>režie</a:t>
            </a:r>
            <a:r>
              <a:rPr dirty="0"/>
              <a:t> </a:t>
            </a:r>
            <a:r>
              <a:rPr dirty="0" err="1"/>
              <a:t>indexu</a:t>
            </a:r>
            <a:r>
              <a:rPr dirty="0"/>
              <a:t> </a:t>
            </a:r>
            <a:r>
              <a:rPr dirty="0" err="1"/>
              <a:t>může</a:t>
            </a:r>
            <a:r>
              <a:rPr dirty="0"/>
              <a:t> </a:t>
            </a:r>
            <a:r>
              <a:rPr dirty="0" err="1"/>
              <a:t>převážit</a:t>
            </a:r>
            <a:r>
              <a:rPr dirty="0"/>
              <a:t> </a:t>
            </a:r>
            <a:r>
              <a:rPr dirty="0" err="1"/>
              <a:t>nad</a:t>
            </a:r>
            <a:r>
              <a:rPr dirty="0"/>
              <a:t> </a:t>
            </a:r>
            <a:r>
              <a:rPr dirty="0" err="1"/>
              <a:t>přínosem</a:t>
            </a:r>
            <a:r>
              <a:rPr dirty="0"/>
              <a:t>.</a:t>
            </a:r>
          </a:p>
        </p:txBody>
      </p:sp>
      <p:pic>
        <p:nvPicPr>
          <p:cNvPr id="7" name="Picture 6" descr="benchmark_polygon_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442" y="639984"/>
            <a:ext cx="5665249" cy="3145632"/>
          </a:xfrm>
          <a:prstGeom prst="rect">
            <a:avLst/>
          </a:prstGeom>
        </p:spPr>
      </p:pic>
      <p:pic>
        <p:nvPicPr>
          <p:cNvPr id="8" name="Obráze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17" y="4242115"/>
            <a:ext cx="11460174" cy="22958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Radius vs. polygon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71323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Radius query: </a:t>
            </a:r>
            <a:r>
              <a:rPr dirty="0" err="1"/>
              <a:t>bbox</a:t>
            </a:r>
            <a:r>
              <a:rPr dirty="0"/>
              <a:t> </a:t>
            </a:r>
            <a:r>
              <a:rPr dirty="0" err="1"/>
              <a:t>kružnice</a:t>
            </a:r>
            <a:r>
              <a:rPr dirty="0"/>
              <a:t> je </a:t>
            </a:r>
            <a:r>
              <a:rPr dirty="0" err="1"/>
              <a:t>poměrně</a:t>
            </a:r>
            <a:r>
              <a:rPr dirty="0"/>
              <a:t> </a:t>
            </a:r>
            <a:r>
              <a:rPr dirty="0" err="1"/>
              <a:t>těsný</a:t>
            </a:r>
            <a:r>
              <a:rPr dirty="0"/>
              <a:t> </a:t>
            </a:r>
            <a:r>
              <a:rPr dirty="0" err="1"/>
              <a:t>filtr</a:t>
            </a:r>
            <a:r>
              <a:rPr dirty="0"/>
              <a:t>, </a:t>
            </a:r>
            <a:r>
              <a:rPr dirty="0" err="1"/>
              <a:t>přesný</a:t>
            </a:r>
            <a:r>
              <a:rPr dirty="0"/>
              <a:t> test je </a:t>
            </a:r>
            <a:r>
              <a:rPr dirty="0" err="1"/>
              <a:t>jednoduchá</a:t>
            </a:r>
            <a:r>
              <a:rPr dirty="0"/>
              <a:t> </a:t>
            </a:r>
            <a:r>
              <a:rPr dirty="0" err="1"/>
              <a:t>vzdálenost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Polygon query: </a:t>
            </a:r>
            <a:r>
              <a:rPr dirty="0" err="1"/>
              <a:t>bbox</a:t>
            </a:r>
            <a:r>
              <a:rPr dirty="0"/>
              <a:t> </a:t>
            </a:r>
            <a:r>
              <a:rPr dirty="0" err="1"/>
              <a:t>kraje</a:t>
            </a:r>
            <a:r>
              <a:rPr dirty="0"/>
              <a:t> </a:t>
            </a:r>
            <a:r>
              <a:rPr dirty="0" err="1"/>
              <a:t>může</a:t>
            </a:r>
            <a:r>
              <a:rPr dirty="0"/>
              <a:t> </a:t>
            </a:r>
            <a:r>
              <a:rPr dirty="0" err="1"/>
              <a:t>obsahovat</a:t>
            </a:r>
            <a:r>
              <a:rPr dirty="0"/>
              <a:t> </a:t>
            </a:r>
            <a:r>
              <a:rPr dirty="0" err="1"/>
              <a:t>mnoho</a:t>
            </a:r>
            <a:r>
              <a:rPr dirty="0"/>
              <a:t> </a:t>
            </a:r>
            <a:r>
              <a:rPr dirty="0" err="1"/>
              <a:t>bodů</a:t>
            </a:r>
            <a:r>
              <a:rPr dirty="0"/>
              <a:t> </a:t>
            </a:r>
            <a:r>
              <a:rPr dirty="0" err="1"/>
              <a:t>mimo</a:t>
            </a:r>
            <a:r>
              <a:rPr dirty="0"/>
              <a:t> </a:t>
            </a:r>
            <a:r>
              <a:rPr dirty="0" err="1"/>
              <a:t>skutečný</a:t>
            </a:r>
            <a:r>
              <a:rPr dirty="0"/>
              <a:t> </a:t>
            </a:r>
            <a:r>
              <a:rPr dirty="0" err="1"/>
              <a:t>tvar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Proto je u </a:t>
            </a:r>
            <a:r>
              <a:rPr dirty="0" err="1"/>
              <a:t>polygonů</a:t>
            </a:r>
            <a:r>
              <a:rPr dirty="0"/>
              <a:t> </a:t>
            </a:r>
            <a:r>
              <a:rPr dirty="0" err="1"/>
              <a:t>důležité</a:t>
            </a:r>
            <a:r>
              <a:rPr dirty="0"/>
              <a:t>, </a:t>
            </a:r>
            <a:r>
              <a:rPr dirty="0" err="1"/>
              <a:t>kolik</a:t>
            </a:r>
            <a:r>
              <a:rPr dirty="0"/>
              <a:t> </a:t>
            </a:r>
            <a:r>
              <a:rPr dirty="0" err="1"/>
              <a:t>falešných</a:t>
            </a:r>
            <a:r>
              <a:rPr dirty="0"/>
              <a:t> </a:t>
            </a:r>
            <a:r>
              <a:rPr dirty="0" err="1"/>
              <a:t>kandidátů</a:t>
            </a:r>
            <a:r>
              <a:rPr dirty="0"/>
              <a:t> </a:t>
            </a:r>
            <a:r>
              <a:rPr dirty="0" err="1"/>
              <a:t>projde</a:t>
            </a:r>
            <a:r>
              <a:rPr dirty="0"/>
              <a:t> </a:t>
            </a:r>
            <a:r>
              <a:rPr dirty="0" err="1"/>
              <a:t>hrubým</a:t>
            </a:r>
            <a:r>
              <a:rPr dirty="0"/>
              <a:t> </a:t>
            </a:r>
            <a:r>
              <a:rPr dirty="0" err="1"/>
              <a:t>filtrem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 err="1"/>
              <a:t>Různé</a:t>
            </a:r>
            <a:r>
              <a:rPr dirty="0"/>
              <a:t> </a:t>
            </a:r>
            <a:r>
              <a:rPr dirty="0" err="1"/>
              <a:t>typy</a:t>
            </a:r>
            <a:r>
              <a:rPr dirty="0"/>
              <a:t> </a:t>
            </a:r>
            <a:r>
              <a:rPr dirty="0" err="1"/>
              <a:t>dotazů</a:t>
            </a:r>
            <a:r>
              <a:rPr dirty="0"/>
              <a:t> </a:t>
            </a:r>
            <a:r>
              <a:rPr dirty="0" err="1"/>
              <a:t>mohou</a:t>
            </a:r>
            <a:r>
              <a:rPr dirty="0"/>
              <a:t> </a:t>
            </a:r>
            <a:r>
              <a:rPr dirty="0" err="1"/>
              <a:t>zvýhodnit</a:t>
            </a:r>
            <a:r>
              <a:rPr dirty="0"/>
              <a:t> </a:t>
            </a:r>
            <a:r>
              <a:rPr dirty="0" err="1"/>
              <a:t>jiný</a:t>
            </a:r>
            <a:r>
              <a:rPr dirty="0"/>
              <a:t> index.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828800"/>
            <a:ext cx="34747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19456" tIns="164592" rIns="219456" rtlCol="0" anchor="ctr"/>
          <a:lstStyle/>
          <a:p>
            <a:pPr algn="ctr">
              <a:defRPr sz="1800" b="1">
                <a:solidFill>
                  <a:srgbClr val="2C64AA"/>
                </a:solidFill>
              </a:defRPr>
            </a:pPr>
            <a:r>
              <a:t>Index urychluje kandidáty.</a:t>
            </a:r>
            <a:br/>
            <a:r>
              <a:t>Správnost zajišťuje přesný geometrický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02830"/>
                </a:solidFill>
              </a:defRPr>
            </a:pPr>
            <a:r>
              <a:t>Závěr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537960"/>
            <a:ext cx="11155680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92640" y="656539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6973"/>
                </a:solidFill>
              </a:defRPr>
            </a:pPr>
            <a:r>
              <a:t>MH_semestralka_p__index |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Pro </a:t>
            </a:r>
            <a:r>
              <a:rPr dirty="0" err="1"/>
              <a:t>bodové</a:t>
            </a:r>
            <a:r>
              <a:rPr dirty="0"/>
              <a:t> </a:t>
            </a:r>
            <a:r>
              <a:rPr dirty="0" err="1"/>
              <a:t>bbox</a:t>
            </a:r>
            <a:r>
              <a:rPr dirty="0"/>
              <a:t> a radius </a:t>
            </a:r>
            <a:r>
              <a:rPr dirty="0" err="1"/>
              <a:t>dotazy</a:t>
            </a:r>
            <a:r>
              <a:rPr dirty="0"/>
              <a:t> </a:t>
            </a:r>
            <a:r>
              <a:rPr dirty="0" err="1"/>
              <a:t>vyšel</a:t>
            </a:r>
            <a:r>
              <a:rPr dirty="0"/>
              <a:t> v </a:t>
            </a:r>
            <a:r>
              <a:rPr dirty="0" err="1"/>
              <a:t>projektu</a:t>
            </a:r>
            <a:r>
              <a:rPr dirty="0"/>
              <a:t> </a:t>
            </a:r>
            <a:r>
              <a:rPr dirty="0" err="1"/>
              <a:t>nejlépe</a:t>
            </a:r>
            <a:r>
              <a:rPr dirty="0"/>
              <a:t> </a:t>
            </a:r>
            <a:r>
              <a:rPr dirty="0" err="1"/>
              <a:t>jednoduchý</a:t>
            </a:r>
            <a:r>
              <a:rPr dirty="0"/>
              <a:t> </a:t>
            </a:r>
            <a:r>
              <a:rPr dirty="0" err="1"/>
              <a:t>dlaždicový</a:t>
            </a:r>
            <a:r>
              <a:rPr dirty="0"/>
              <a:t> index.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 err="1"/>
              <a:t>Lineární</a:t>
            </a:r>
            <a:r>
              <a:rPr dirty="0"/>
              <a:t> </a:t>
            </a:r>
            <a:r>
              <a:rPr dirty="0" err="1"/>
              <a:t>průchod</a:t>
            </a:r>
            <a:r>
              <a:rPr dirty="0"/>
              <a:t> je </a:t>
            </a:r>
            <a:r>
              <a:rPr dirty="0" err="1"/>
              <a:t>dobrý</a:t>
            </a:r>
            <a:r>
              <a:rPr dirty="0"/>
              <a:t> </a:t>
            </a:r>
            <a:r>
              <a:rPr dirty="0" err="1"/>
              <a:t>jako</a:t>
            </a:r>
            <a:r>
              <a:rPr dirty="0"/>
              <a:t> </a:t>
            </a:r>
            <a:r>
              <a:rPr dirty="0" err="1"/>
              <a:t>referenční</a:t>
            </a:r>
            <a:r>
              <a:rPr dirty="0"/>
              <a:t> </a:t>
            </a:r>
            <a:r>
              <a:rPr dirty="0" err="1"/>
              <a:t>metoda</a:t>
            </a:r>
            <a:r>
              <a:rPr dirty="0"/>
              <a:t>, ale </a:t>
            </a:r>
            <a:r>
              <a:rPr dirty="0" err="1"/>
              <a:t>špatně</a:t>
            </a:r>
            <a:r>
              <a:rPr dirty="0"/>
              <a:t> </a:t>
            </a:r>
            <a:r>
              <a:rPr dirty="0" err="1"/>
              <a:t>škáluje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R-tree/</a:t>
            </a:r>
            <a:r>
              <a:rPr dirty="0" err="1"/>
              <a:t>STRtree</a:t>
            </a:r>
            <a:r>
              <a:rPr dirty="0"/>
              <a:t> je </a:t>
            </a:r>
            <a:r>
              <a:rPr dirty="0" err="1"/>
              <a:t>obecnější</a:t>
            </a:r>
            <a:r>
              <a:rPr dirty="0"/>
              <a:t> a u polygon query </a:t>
            </a:r>
            <a:r>
              <a:rPr dirty="0" err="1"/>
              <a:t>nad</a:t>
            </a:r>
            <a:r>
              <a:rPr dirty="0"/>
              <a:t> 50 000 body </a:t>
            </a:r>
            <a:r>
              <a:rPr dirty="0" err="1"/>
              <a:t>byl</a:t>
            </a:r>
            <a:r>
              <a:rPr dirty="0"/>
              <a:t> </a:t>
            </a:r>
            <a:r>
              <a:rPr dirty="0" err="1"/>
              <a:t>nejrychlejší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/>
              <a:t>EPSG:5514 </a:t>
            </a:r>
            <a:r>
              <a:rPr dirty="0" err="1"/>
              <a:t>zjednodušuje</a:t>
            </a:r>
            <a:r>
              <a:rPr dirty="0"/>
              <a:t> </a:t>
            </a:r>
            <a:r>
              <a:rPr dirty="0" err="1"/>
              <a:t>interpretaci</a:t>
            </a:r>
            <a:r>
              <a:rPr dirty="0"/>
              <a:t> a </a:t>
            </a:r>
            <a:r>
              <a:rPr dirty="0" err="1"/>
              <a:t>umožňuje</a:t>
            </a:r>
            <a:r>
              <a:rPr dirty="0"/>
              <a:t> </a:t>
            </a:r>
            <a:r>
              <a:rPr dirty="0" err="1"/>
              <a:t>korektní</a:t>
            </a:r>
            <a:r>
              <a:rPr dirty="0"/>
              <a:t> </a:t>
            </a:r>
            <a:r>
              <a:rPr dirty="0" err="1"/>
              <a:t>metrické</a:t>
            </a:r>
            <a:r>
              <a:rPr dirty="0"/>
              <a:t> </a:t>
            </a:r>
            <a:r>
              <a:rPr dirty="0" err="1"/>
              <a:t>výpočty</a:t>
            </a:r>
            <a:r>
              <a:rPr dirty="0"/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800">
                <a:solidFill>
                  <a:srgbClr val="202830"/>
                </a:solidFill>
              </a:defRPr>
            </a:pPr>
            <a:r>
              <a:rPr dirty="0" err="1"/>
              <a:t>Nejdůležitější</a:t>
            </a:r>
            <a:r>
              <a:rPr dirty="0"/>
              <a:t> </a:t>
            </a:r>
            <a:r>
              <a:rPr dirty="0" err="1"/>
              <a:t>praktický</a:t>
            </a:r>
            <a:r>
              <a:rPr dirty="0"/>
              <a:t> </a:t>
            </a:r>
            <a:r>
              <a:rPr dirty="0" err="1"/>
              <a:t>závěr</a:t>
            </a:r>
            <a:r>
              <a:rPr dirty="0"/>
              <a:t>: index je </a:t>
            </a:r>
            <a:r>
              <a:rPr dirty="0" err="1"/>
              <a:t>hrubý</a:t>
            </a:r>
            <a:r>
              <a:rPr dirty="0"/>
              <a:t> </a:t>
            </a:r>
            <a:r>
              <a:rPr dirty="0" err="1"/>
              <a:t>filtr</a:t>
            </a:r>
            <a:r>
              <a:rPr dirty="0"/>
              <a:t>, </a:t>
            </a:r>
            <a:r>
              <a:rPr dirty="0" err="1"/>
              <a:t>přesný</a:t>
            </a:r>
            <a:r>
              <a:rPr dirty="0"/>
              <a:t> </a:t>
            </a:r>
            <a:r>
              <a:rPr dirty="0" err="1"/>
              <a:t>geometrický</a:t>
            </a:r>
            <a:r>
              <a:rPr dirty="0"/>
              <a:t> test je </a:t>
            </a:r>
            <a:r>
              <a:rPr dirty="0" err="1"/>
              <a:t>stále</a:t>
            </a:r>
            <a:r>
              <a:rPr dirty="0"/>
              <a:t> </a:t>
            </a:r>
            <a:r>
              <a:rPr dirty="0" err="1"/>
              <a:t>nutný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866</Words>
  <Application>Microsoft Office PowerPoint</Application>
  <PresentationFormat>Širokoúhlá obrazovka</PresentationFormat>
  <Paragraphs>117</Paragraphs>
  <Slides>17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Prezentace aplikace PowerPoint</dc:title>
  <dc:subject/>
  <dc:creator/>
  <cp:keywords/>
  <dc:description>generated using python-pptx</dc:description>
  <cp:lastModifiedBy>Účet Microsoft</cp:lastModifiedBy>
  <cp:revision>7</cp:revision>
  <dcterms:created xsi:type="dcterms:W3CDTF">2013-01-27T09:14:16Z</dcterms:created>
  <dcterms:modified xsi:type="dcterms:W3CDTF">2026-05-11T11:29:30Z</dcterms:modified>
  <cp:category/>
</cp:coreProperties>
</file>