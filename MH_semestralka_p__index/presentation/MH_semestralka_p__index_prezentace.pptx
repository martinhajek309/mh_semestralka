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10"/>
    <p:sldId id="264" r:id="rId11"/>
    <p:sldId id="273" r:id="rId12"/>
    <p:sldId id="265" r:id="rId13"/>
    <p:sldId id="266" r:id="rId14"/>
    <p:sldId id="272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Prostorový index pro vyhledávání bodů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973"/>
                </a:solidFill>
              </a:defRPr>
            </a:pPr>
            <a:r>
              <a:t>Semestrální práce | MH_semestralka_p__index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7498079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2000">
                <a:solidFill>
                  <a:srgbClr val="202830"/>
                </a:solidFill>
              </a:defRPr>
            </a:pPr>
            <a:r>
              <a:t>Porovnání vyhledávání bez indexu, vlastního dlaždicového indexu a knihovního R-tree / STRtree.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2000">
                <a:solidFill>
                  <a:srgbClr val="202830"/>
                </a:solidFill>
              </a:defRPr>
            </a:pPr>
            <a:r>
              <a:t>Testy nad body v Olomouckém kraji i nad celou Českou republikou.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2000">
                <a:solidFill>
                  <a:srgbClr val="202830"/>
                </a:solidFill>
              </a:defRPr>
            </a:pPr>
            <a:r>
              <a:t>Důraz na praktický výkon u bbox, radius a polygon query.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1920240"/>
            <a:ext cx="3108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tIns="164592" rIns="219456" rtlCol="0" anchor="ctr"/>
          <a:lstStyle/>
          <a:p>
            <a:pPr algn="ctr">
              <a:defRPr sz="1800" b="1">
                <a:solidFill>
                  <a:srgbClr val="2C64AA"/>
                </a:solidFill>
              </a:defRPr>
            </a:pPr>
            <a:r>
              <a:t>Hlavní otázka:</a:t>
            </a:r>
            <a:br/>
            <a:r>
              <a:t>Kdy prostorový index skutečně zrychlí dotazy?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Cíl práce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65836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Vytvořit a otestovat jednoduchý prostorový index nad bodovými daty.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Porovnat ho s lineárním průchodem a s knihovním indexem GeoPandas/Shapely.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Ověřit správnost výsledků: všechny metody musí vracet stejné počty bodů.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Vyhodnotit chování při různých velikostech datasetu a dotazu.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82880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tIns="164592" rIns="219456" rtlCol="0" anchor="ctr"/>
          <a:lstStyle/>
          <a:p>
            <a:pPr algn="ctr">
              <a:defRPr sz="1800" b="1">
                <a:solidFill>
                  <a:srgbClr val="2C64AA"/>
                </a:solidFill>
              </a:defRPr>
            </a:pPr>
            <a:r>
              <a:t>Výstupem není jen kód, ale měřitelný rozdíl v časech dotazů.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Použitá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676656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Polygon Olomouckého kraje a polygon celé České republiky.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Vrstva 14 krajů ČR pro polygon query.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Náhodné body generované uvnitř skutečných polygonů.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Datasety: Olomoucký kraj 500, 1 000, 5 000 bodů; ČR 5 000, 10 000, 50 000 bodů.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Zdroj hranic: veřejná ArcGIS REST služba České geologické služby.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983480"/>
            <a:ext cx="27432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C64AA"/>
                </a:solidFill>
              </a:defRPr>
            </a:pPr>
            <a:r>
              <a:t>14</a:t>
            </a:r>
          </a:p>
          <a:p>
            <a:pPr algn="ctr">
              <a:defRPr sz="900">
                <a:solidFill>
                  <a:srgbClr val="5F6973"/>
                </a:solidFill>
              </a:defRPr>
            </a:pPr>
            <a:r>
              <a:t>krajů v polygon query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85032" y="4983480"/>
            <a:ext cx="27432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C64AA"/>
                </a:solidFill>
              </a:defRPr>
            </a:pPr>
            <a:r>
              <a:t>50 000</a:t>
            </a:r>
          </a:p>
          <a:p>
            <a:pPr algn="ctr">
              <a:defRPr sz="900">
                <a:solidFill>
                  <a:srgbClr val="5F6973"/>
                </a:solidFill>
              </a:defRPr>
            </a:pPr>
            <a:r>
              <a:t>největší dataset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84264" y="4983480"/>
            <a:ext cx="27432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C64AA"/>
                </a:solidFill>
              </a:defRPr>
            </a:pPr>
            <a:r>
              <a:t>1 000</a:t>
            </a:r>
          </a:p>
          <a:p>
            <a:pPr algn="ctr">
              <a:defRPr sz="900">
                <a:solidFill>
                  <a:srgbClr val="5F6973"/>
                </a:solidFill>
              </a:defRPr>
            </a:pPr>
            <a:r>
              <a:t>dotazů v benchmarku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Proč EPSG:5514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676656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EPSG:4326 je vhodný výměnný formát pro GIS a webové mapy.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Pro výpočty je potřeba pracovat v metrech, ne ve stupních.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EPSG:5514 (S-JTSK / Křovák East North) umožňuje přímo používat velikost dlaždice, okna i radius v metrech.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Díky tomu je benchmark interpretovatelný: 5 000 znamená 5 km.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79" y="1600200"/>
            <a:ext cx="35661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tIns="164592" rIns="219456" rtlCol="0" anchor="ctr"/>
          <a:lstStyle/>
          <a:p>
            <a:pPr algn="ctr">
              <a:defRPr sz="1800" b="1">
                <a:solidFill>
                  <a:srgbClr val="2C64AA"/>
                </a:solidFill>
              </a:defRPr>
            </a:pPr>
            <a:r>
              <a:t>Pracovní CRS:</a:t>
            </a:r>
            <a:br/>
            <a:r>
              <a:t>EPSG:5514</a:t>
            </a:r>
            <a:br/>
            <a:r>
              <a:t/>
            </a:r>
            <a:br/>
            <a:r>
              <a:t>Dotazy:</a:t>
            </a:r>
            <a:br/>
            <a:r>
              <a:t>metry, bboxy, vzdálenosti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Vyhledávání bez indexu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5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57400"/>
            <a:ext cx="2240280" cy="1005840"/>
          </a:xfrm>
          <a:prstGeom prst="rect">
            <a:avLst/>
          </a:prstGeom>
          <a:solidFill>
            <a:srgbClr val="B44646"/>
          </a:solidFill>
          <a:ln>
            <a:solidFill>
              <a:srgbClr val="B4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dotaz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992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2057400"/>
            <a:ext cx="2240280" cy="1005840"/>
          </a:xfrm>
          <a:prstGeom prst="rect">
            <a:avLst/>
          </a:prstGeom>
          <a:solidFill>
            <a:srgbClr val="D27D2D"/>
          </a:solidFill>
          <a:ln>
            <a:solidFill>
              <a:srgbClr val="D27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projdi všechny 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424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057400"/>
            <a:ext cx="2240280" cy="1005840"/>
          </a:xfrm>
          <a:prstGeom prst="rect">
            <a:avLst/>
          </a:prstGeom>
          <a:solidFill>
            <a:srgbClr val="23875C"/>
          </a:solidFill>
          <a:ln>
            <a:solidFill>
              <a:srgbClr val="238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test bbox / vzdálenost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56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15400" y="2057400"/>
            <a:ext cx="2240280" cy="1005840"/>
          </a:xfrm>
          <a:prstGeom prst="rect">
            <a:avLst/>
          </a:prstGeom>
          <a:solidFill>
            <a:srgbClr val="2C64AA"/>
          </a:solidFill>
          <a:ln>
            <a:solidFill>
              <a:srgbClr val="2C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výsledek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886200"/>
            <a:ext cx="987552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Lineární přístup je jednoduchý a má nulový čas stavby indexu.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Každý dotaz ale kontroluje celý dataset.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S rostoucím počtem bodů roste čas téměř přímo úměrně.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Dlaždicový prostorový index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6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57400"/>
            <a:ext cx="2240280" cy="1005840"/>
          </a:xfrm>
          <a:prstGeom prst="rect">
            <a:avLst/>
          </a:prstGeom>
          <a:solidFill>
            <a:srgbClr val="B44646"/>
          </a:solidFill>
          <a:ln>
            <a:solidFill>
              <a:srgbClr val="B4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rozděl prostor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992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2057400"/>
            <a:ext cx="2240280" cy="1005840"/>
          </a:xfrm>
          <a:prstGeom prst="rect">
            <a:avLst/>
          </a:prstGeom>
          <a:solidFill>
            <a:srgbClr val="D27D2D"/>
          </a:solidFill>
          <a:ln>
            <a:solidFill>
              <a:srgbClr val="D27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ulož body do dlaždic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424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057400"/>
            <a:ext cx="2240280" cy="1005840"/>
          </a:xfrm>
          <a:prstGeom prst="rect">
            <a:avLst/>
          </a:prstGeom>
          <a:solidFill>
            <a:srgbClr val="23875C"/>
          </a:solidFill>
          <a:ln>
            <a:solidFill>
              <a:srgbClr val="238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vyber dotčené dlaždice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56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15400" y="2057400"/>
            <a:ext cx="2240280" cy="1005840"/>
          </a:xfrm>
          <a:prstGeom prst="rect">
            <a:avLst/>
          </a:prstGeom>
          <a:solidFill>
            <a:srgbClr val="2C64AA"/>
          </a:solidFill>
          <a:ln>
            <a:solidFill>
              <a:srgbClr val="2C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ověř kandidáty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03320"/>
            <a:ext cx="102412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Vlastní implementace ukládá body podle dvojice celočíselných souřadnic dlaždice.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Dotaz se převede na rozsah dlaždic, které protínají bbox.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Přesný test se dělá jen nad kandidáty z těchto dlaždic.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V projektu: 1 000 m pro Olomoucký kraj, 5 000 m pro ČR.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R-tree / STRtree index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57400"/>
            <a:ext cx="2240280" cy="1005840"/>
          </a:xfrm>
          <a:prstGeom prst="rect">
            <a:avLst/>
          </a:prstGeom>
          <a:solidFill>
            <a:srgbClr val="B44646"/>
          </a:solidFill>
          <a:ln>
            <a:solidFill>
              <a:srgbClr val="B4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geometrie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992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2057400"/>
            <a:ext cx="2240280" cy="1005840"/>
          </a:xfrm>
          <a:prstGeom prst="rect">
            <a:avLst/>
          </a:prstGeom>
          <a:solidFill>
            <a:srgbClr val="D27D2D"/>
          </a:solidFill>
          <a:ln>
            <a:solidFill>
              <a:srgbClr val="D27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sindex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424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057400"/>
            <a:ext cx="2240280" cy="1005840"/>
          </a:xfrm>
          <a:prstGeom prst="rect">
            <a:avLst/>
          </a:prstGeom>
          <a:solidFill>
            <a:srgbClr val="23875C"/>
          </a:solidFill>
          <a:ln>
            <a:solidFill>
              <a:srgbClr val="238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bbox kandidáti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56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15400" y="2057400"/>
            <a:ext cx="2240280" cy="1005840"/>
          </a:xfrm>
          <a:prstGeom prst="rect">
            <a:avLst/>
          </a:prstGeom>
          <a:solidFill>
            <a:srgbClr val="2C64AA"/>
          </a:solidFill>
          <a:ln>
            <a:solidFill>
              <a:srgbClr val="2C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přesné ověření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03320"/>
            <a:ext cx="102412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GeoPandas/Shapely poskytuje knihovní prostorový index přes `gdf.sindex`.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Index organizuje bounding boxy geometrií tak, aby se rychle našli kandidáti.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Stejně jako u dlaždic není bbox kandidát automaticky finální výsledek.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Výhoda: obecnější řešení pro různé geometrie; nevýhoda: režie Python/GeoPandas v malých dotazech.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Benchmark: Olomoucký kraj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973"/>
                </a:solidFill>
              </a:defRPr>
            </a:pPr>
            <a:r>
              <a:t>Bbox query, dataset 5 000 bodů, 1 000 dotazů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5029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Dlaždicový index je nejrychlejší ve všech velikostech dotazovacího okna.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Lineární průchod je použitelný u malých dat, ale s počtem bodů rychle roste.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R-tree/STRtree má v tomto benchmarku vysokou režii a pro malé bodové dotazy nevychází výhodně.</a:t>
            </a:r>
          </a:p>
        </p:txBody>
      </p:sp>
      <p:pic>
        <p:nvPicPr>
          <p:cNvPr id="7" name="Picture 6" descr="benchmark_olomoucky_k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17320"/>
            <a:ext cx="5394960" cy="29955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386" y="166232"/>
            <a:ext cx="11479227" cy="6525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72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Benchmark: Česká republika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973"/>
                </a:solidFill>
              </a:defRPr>
            </a:pPr>
            <a:r>
              <a:t>Bbox query, dataset 50 000 bodů, 1 000 dotazů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5029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Na větším území a větším datasetu je rozdíl mezi lineárním průchodem a indexem výraznější.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Dlaždicový index drží nízké časy i pro větší dotazovací okna.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U největšího okna roste počet kandidátů, takže roste i čas indexovaného dotazu.</a:t>
            </a:r>
          </a:p>
        </p:txBody>
      </p:sp>
      <p:pic>
        <p:nvPicPr>
          <p:cNvPr id="7" name="Picture 6" descr="benchmark_ceska_republi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17320"/>
            <a:ext cx="5394960" cy="29955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2" y="210312"/>
            <a:ext cx="11937202" cy="5942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3953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Co ukazuje škálování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7040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Bez indexu je rozhodující hlavně počet bodů: každý dotaz musí projít vše.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U indexu je rozhodující počet kandidátů v dotčených dlaždicích nebo bboxu.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Čím menší část prostoru dotaz zasáhne, tím větší je přínos indexu.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Index má smysl hlavně při opakovaných dotazech nad stejným datasetem.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35240" y="1874519"/>
            <a:ext cx="34747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tIns="164592" rIns="219456" rtlCol="0" anchor="ctr"/>
          <a:lstStyle/>
          <a:p>
            <a:pPr algn="ctr">
              <a:defRPr sz="1800" b="1">
                <a:solidFill>
                  <a:srgbClr val="2C64AA"/>
                </a:solidFill>
              </a:defRPr>
            </a:pPr>
            <a:r>
              <a:t>Obecné pravidlo:</a:t>
            </a:r>
            <a:br/>
            <a:r>
              <a:t>index se vyplatí, když sníží počet přesně testovaných bodů.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Radius query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029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Dotaz: najít všechny body do zadané vzdálenosti od středu.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Nejdřív se použije bbox kružnice jako hrubý filtr.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Potom musí následovat přesný test eukleidovské vzdálenosti.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Poloměry v benchmarku: 5 km, 10 km a 25 km.</a:t>
            </a:r>
          </a:p>
        </p:txBody>
      </p:sp>
      <p:pic>
        <p:nvPicPr>
          <p:cNvPr id="6" name="Picture 5" descr="benchmark_radius_qu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17320"/>
            <a:ext cx="5394960" cy="29955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41416"/>
            <a:ext cx="11582289" cy="6216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8345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Benchmark: polygon query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973"/>
                </a:solidFill>
              </a:defRPr>
            </a:pPr>
            <a:r>
              <a:t>14 krajů ČR, souhrnný čas podle velikosti datasetu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5029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U polygon query je přesné ověření kandidátů dražší než u bbox dotazu.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Pro 50 000 bodů je nejrychlejší R-tree/STRtree, dlaždicový index je druhý.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U menších datasetů režie indexu může převážit nad přínosem.</a:t>
            </a:r>
          </a:p>
        </p:txBody>
      </p:sp>
      <p:pic>
        <p:nvPicPr>
          <p:cNvPr id="7" name="Picture 6" descr="benchmark_polygon_qu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17320"/>
            <a:ext cx="5394960" cy="2995554"/>
          </a:xfrm>
          <a:prstGeom prst="rect">
            <a:avLst/>
          </a:prstGeom>
        </p:spPr>
      </p:pic>
      <p:pic>
        <p:nvPicPr>
          <p:cNvPr id="8" name="Obráze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426" y="4383847"/>
            <a:ext cx="11460174" cy="229584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Radius vs. polygon query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713232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Radius query: bbox kružnice je poměrně těsný filtr, přesný test je jednoduchá vzdálenost.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Polygon query: bbox kraje může obsahovat mnoho bodů mimo skutečný tvar.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Proto je u polygonů důležité, kolik falešných kandidátů projde hrubým filtrem.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Různé typy dotazů mohou zvýhodnit jiný index.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828800"/>
            <a:ext cx="34747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tIns="164592" rIns="219456" rtlCol="0" anchor="ctr"/>
          <a:lstStyle/>
          <a:p>
            <a:pPr algn="ctr">
              <a:defRPr sz="1800" b="1">
                <a:solidFill>
                  <a:srgbClr val="2C64AA"/>
                </a:solidFill>
              </a:defRPr>
            </a:pPr>
            <a:r>
              <a:t>Index urychluje kandidáty.</a:t>
            </a:r>
            <a:br/>
            <a:r>
              <a:t>Správnost zajišťuje přesný geometrický test.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Závěr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Pro bodové bbox a radius dotazy vyšel v projektu nejlépe jednoduchý dlaždicový index.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Lineární průchod je dobrý jako referenční metoda, ale špatně škáluje.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R-tree/STRtree je obecnější a u polygon query nad 50 000 body byl nejrychlejší.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EPSG:5514 zjednodušuje interpretaci a umožňuje korektní metrické výpočty.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Nejdůležitější praktický závěr: index je hrubý filtr, přesný geometrický test je stále nutný.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866</Words>
  <Application>Microsoft Office PowerPoint</Application>
  <PresentationFormat>Širokoúhlá obrazovka</PresentationFormat>
  <Paragraphs>117</Paragraphs>
  <Slides>17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2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Prezentace aplikace PowerPoint</dc:title>
  <dc:subject/>
  <dc:creator/>
  <cp:keywords/>
  <dc:description>generated using python-pptx</dc:description>
  <cp:lastModifiedBy>Účet Microsoft</cp:lastModifiedBy>
  <cp:revision>4</cp:revision>
  <dcterms:created xsi:type="dcterms:W3CDTF">2013-01-27T09:14:16Z</dcterms:created>
  <dcterms:modified xsi:type="dcterms:W3CDTF">2026-05-11T11:01:34Z</dcterms:modified>
  <cp:category/>
</cp:coreProperties>
</file>